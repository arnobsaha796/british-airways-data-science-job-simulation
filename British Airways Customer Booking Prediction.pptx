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8" d="100"/>
          <a:sy n="98" d="100"/>
        </p:scale>
        <p:origin x="82" y="32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17-Sep-26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17-Sep-26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17-Sep-26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17-Sep-26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17-Sep-26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17-Sep-26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17-Sep-26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17-Sep-26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17-Sep-26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17-Sep-26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17-Sep-26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17-Sep-26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33.png"/><Relationship Id="rId5" Type="http://schemas.openxmlformats.org/officeDocument/2006/relationships/image" Target="../media/image29.png"/><Relationship Id="rId10" Type="http://schemas.openxmlformats.org/officeDocument/2006/relationships/image" Target="../media/image32.png"/><Relationship Id="rId4" Type="http://schemas.openxmlformats.org/officeDocument/2006/relationships/image" Target="../media/image28.png"/><Relationship Id="rId9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5905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2431" y="1724025"/>
            <a:ext cx="3767137" cy="3714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95437" y="2333625"/>
            <a:ext cx="9001125" cy="828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350" b="1" i="0" u="none">
                <a:solidFill>
                  <a:srgbClr val="FFFFFF"/>
                </a:solidFill>
                <a:latin typeface="Poppins"/>
              </a:rPr>
              <a:t>Predicting Customer Bookings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47875" y="3495675"/>
            <a:ext cx="80962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sz="1800" b="0" i="0" u="none">
                <a:solidFill>
                  <a:srgbClr val="CBD5E1"/>
                </a:solidFill>
                <a:latin typeface="Inter"/>
              </a:rPr>
              <a:t>Machine Learning Model &amp; Strategic Recommendations to Identify High-Intent Customers and Prevent Booking Abandonment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914650"/>
            <a:ext cx="12192000" cy="76200"/>
          </a:xfrm>
          <a:prstGeom prst="rect">
            <a:avLst/>
          </a:prstGeom>
          <a:solidFill>
            <a:srgbClr val="D719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036540"/>
            <a:ext cx="11049000" cy="334520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26790"/>
            <a:ext cx="2583656" cy="14763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3281" y="1226790"/>
            <a:ext cx="2583656" cy="14763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5062" y="1226790"/>
            <a:ext cx="2583656" cy="14763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6843" y="1226790"/>
            <a:ext cx="2583656" cy="14763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4875" y="3331815"/>
            <a:ext cx="10941367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B2046"/>
                </a:solidFill>
                <a:latin typeface="Poppins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4875" y="3760440"/>
            <a:ext cx="10420350" cy="48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Customer booking origin and route demand popularity serve as the primary indicators of booking completion. Surprisingly, checkout add-ons (extra baggage, seat selection, and in-flight meals) hold significantly lower predictive power regarding overall conversion.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1525" y="1550640"/>
            <a:ext cx="2183606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150" b="1" i="0" u="none">
                <a:solidFill>
                  <a:srgbClr val="0B2046"/>
                </a:solidFill>
                <a:latin typeface="Poppins"/>
              </a:rPr>
              <a:t>50,000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525" y="2226915"/>
            <a:ext cx="2183606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64748B"/>
                </a:solidFill>
                <a:latin typeface="Inter SemiBold"/>
              </a:rPr>
              <a:t>BOOKINGS ANALYSED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306" y="1550640"/>
            <a:ext cx="2183606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150" b="1" i="0" u="none">
                <a:solidFill>
                  <a:srgbClr val="D71921"/>
                </a:solidFill>
                <a:latin typeface="Poppins"/>
              </a:rPr>
              <a:t>15.0%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306" y="2226915"/>
            <a:ext cx="2183606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64748B"/>
                </a:solidFill>
                <a:latin typeface="Inter SemiBold"/>
              </a:rPr>
              <a:t>COMPLETED BOOKING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5087" y="1550640"/>
            <a:ext cx="2183606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150" b="1" i="0" u="none">
                <a:solidFill>
                  <a:srgbClr val="0B2046"/>
                </a:solidFill>
                <a:latin typeface="Poppins"/>
              </a:rPr>
              <a:t>0.757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087" y="2226915"/>
            <a:ext cx="2183606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64748B"/>
                </a:solidFill>
                <a:latin typeface="Inter SemiBold"/>
              </a:rPr>
              <a:t>5-FOLD CV ROC AUC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6868" y="1550640"/>
            <a:ext cx="2183606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150" b="1" i="0" u="none">
                <a:solidFill>
                  <a:srgbClr val="D71921"/>
                </a:solidFill>
                <a:latin typeface="Poppins"/>
              </a:rPr>
              <a:t>0.765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6868" y="2226915"/>
            <a:ext cx="2183606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64748B"/>
                </a:solidFill>
                <a:latin typeface="Inter SemiBold"/>
              </a:rPr>
              <a:t>TEST-SET ROC AUC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476250"/>
            <a:ext cx="11601450" cy="417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0B2046"/>
                </a:solidFill>
                <a:latin typeface="Poppins"/>
              </a:rPr>
              <a:t>Executive Summary &amp; Key Metrics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960090"/>
            <a:ext cx="11049000" cy="28575"/>
          </a:xfrm>
          <a:prstGeom prst="rect">
            <a:avLst/>
          </a:prstGeom>
          <a:solidFill>
            <a:srgbClr val="D719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2477541"/>
            <a:ext cx="5334000" cy="26533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2380208"/>
            <a:ext cx="560070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0B2046"/>
                </a:solidFill>
                <a:latin typeface="Poppins"/>
              </a:rPr>
              <a:t>Challenge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1775" y="2772816"/>
            <a:ext cx="4980622" cy="314325"/>
          </a:xfrm>
          <a:prstGeom prst="rect">
            <a:avLst/>
          </a:prstGeom>
          <a:noFill/>
        </p:spPr>
        <p:txBody>
          <a:bodyPr wrap="square" lIns="36195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Poppins"/>
              </a:rPr>
              <a:t>85 / 15 Imbalance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1775" y="3230016"/>
            <a:ext cx="4743450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To prevent bias toward the majority class, we implemented class-weighted Random Forests (300 estimators) paired with stratified cross-validation.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1775" y="4104233"/>
            <a:ext cx="4743450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This ensured optimal discrimination sensitivity between completed and abandoned user sessions without synthetic over-sampling artifacts.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4875" y="2656433"/>
            <a:ext cx="5000625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Inter"/>
              </a:rPr>
              <a:t>High Severe Class Imbalance:</a:t>
            </a:r>
            <a:r>
              <a:rPr sz="1350" b="0" i="0" u="none">
                <a:solidFill>
                  <a:srgbClr val="334155"/>
                </a:solidFill>
                <a:latin typeface="Inter"/>
              </a:rPr>
              <a:t> Only 15.0% of user sessions culminate in a completed booking, leaving 85.0% uncompleted.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4875" y="3599408"/>
            <a:ext cx="5000625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Inter"/>
              </a:rPr>
              <a:t>Standard Model Fallback:</a:t>
            </a:r>
            <a:r>
              <a:rPr sz="1350" b="0" i="0" u="none">
                <a:solidFill>
                  <a:srgbClr val="334155"/>
                </a:solidFill>
                <a:latin typeface="Inter"/>
              </a:rPr>
              <a:t> Off-the-shelf algorithms tend to predict all sessions as non-bookings without tailored loss weighting.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4875" y="4542383"/>
            <a:ext cx="500062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Inter"/>
              </a:rPr>
              <a:t>Strategic Goal:</a:t>
            </a:r>
            <a:r>
              <a:rPr sz="1350" b="0" i="0" u="none">
                <a:solidFill>
                  <a:srgbClr val="334155"/>
                </a:solidFill>
                <a:latin typeface="Inter"/>
              </a:rPr>
              <a:t> Early detection of high-potential abandoners to enable personalized nudges and conversion recovery.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1775" y="2820441"/>
            <a:ext cx="266700" cy="2095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680245"/>
            <a:ext cx="190500" cy="20002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623220"/>
            <a:ext cx="190500" cy="20002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4566195"/>
            <a:ext cx="190500" cy="20002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1500" y="476250"/>
            <a:ext cx="11601450" cy="417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0B2046"/>
                </a:solidFill>
                <a:latin typeface="Poppins"/>
              </a:rPr>
              <a:t>Business Problem &amp; Class Imbalance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960090"/>
            <a:ext cx="11049000" cy="28575"/>
          </a:xfrm>
          <a:prstGeom prst="rect">
            <a:avLst/>
          </a:prstGeom>
          <a:solidFill>
            <a:srgbClr val="D719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70807"/>
            <a:ext cx="3492549" cy="326677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799" y="2170807"/>
            <a:ext cx="3492549" cy="326677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2170807"/>
            <a:ext cx="3492549" cy="3266777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775" y="2466082"/>
            <a:ext cx="523875" cy="5238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6775" y="3180457"/>
            <a:ext cx="3047099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B2046"/>
                </a:solidFill>
                <a:latin typeface="Poppins"/>
              </a:rPr>
              <a:t>Demand &amp; Route Popularity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6775" y="3923407"/>
            <a:ext cx="2901999" cy="97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Engineered aggregate demand features capturing historical route traffic and origin market popularity scores to represent underlying booking intent.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5074" y="2466082"/>
            <a:ext cx="523875" cy="5238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45074" y="3180457"/>
            <a:ext cx="3047099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B2046"/>
                </a:solidFill>
                <a:latin typeface="Poppins"/>
              </a:rPr>
              <a:t>Log-Scaled Time Dynamics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074" y="3923407"/>
            <a:ext cx="2901999" cy="97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Applied logarithmic transformations to Purchase Lead Time and Length of Stay to dampen extreme skews and isolate non-linear response curves.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3374" y="2466082"/>
            <a:ext cx="523875" cy="52387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23374" y="3180457"/>
            <a:ext cx="3047099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B2046"/>
                </a:solidFill>
                <a:latin typeface="Poppins"/>
              </a:rPr>
              <a:t>Service &amp; Behavioral Indicators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3374" y="3923407"/>
            <a:ext cx="2901999" cy="12189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Constructed aggregated counts for requested extras (baggage, seats, meals) along with binary indicator flags for red-eye and weekend flight schedules.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412" y="2613719"/>
            <a:ext cx="228600" cy="2286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92712" y="2613719"/>
            <a:ext cx="228600" cy="2286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71011" y="2613719"/>
            <a:ext cx="228600" cy="228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" y="476250"/>
            <a:ext cx="11601450" cy="417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0B2046"/>
                </a:solidFill>
                <a:latin typeface="Poppins"/>
              </a:rPr>
              <a:t>Feature Engineering Pipeline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960090"/>
            <a:ext cx="11049000" cy="28575"/>
          </a:xfrm>
          <a:prstGeom prst="rect">
            <a:avLst/>
          </a:prstGeom>
          <a:solidFill>
            <a:srgbClr val="D719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2446883"/>
            <a:ext cx="11049000" cy="2714625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1500" y="2446883"/>
          <a:ext cx="11039474" cy="27146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55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39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899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2925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FFFFFF"/>
                          </a:solidFill>
                          <a:latin typeface="Inter SemiBold"/>
                        </a:rPr>
                        <a:t>Model Component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B20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FFFFFF"/>
                          </a:solidFill>
                          <a:latin typeface="Inter SemiBold"/>
                        </a:rPr>
                        <a:t>Technical Configuration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B20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FFFFFF"/>
                          </a:solidFill>
                          <a:latin typeface="Inter SemiBold"/>
                        </a:rPr>
                        <a:t>Performance Impact / Outcome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B20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2925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334155"/>
                          </a:solidFill>
                          <a:latin typeface="Inter"/>
                        </a:rPr>
                        <a:t>Algorithm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Inter"/>
                        </a:rPr>
                        <a:t>Random Forest Classifier (scikit-learn)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Inter"/>
                        </a:rPr>
                        <a:t>Captures non-linear feature interactions efficiently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2925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334155"/>
                          </a:solidFill>
                          <a:latin typeface="Inter"/>
                        </a:rPr>
                        <a:t>Ensemble Hyperparameters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Inter"/>
                        </a:rPr>
                        <a:t>300 Decision Trees with balanced class weighting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Inter"/>
                        </a:rPr>
                        <a:t>Protects model against 85/15 class imbalance bias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2925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334155"/>
                          </a:solidFill>
                          <a:latin typeface="Inter"/>
                        </a:rPr>
                        <a:t>Cross-Validation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Inter"/>
                        </a:rPr>
                        <a:t>5-Fold Stratified Cross-Validation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Inter"/>
                        </a:rPr>
                        <a:t>Achieved consistent training ROC AUC of </a:t>
                      </a:r>
                      <a:r>
                        <a:rPr sz="1200" b="1" i="0" u="none">
                          <a:solidFill>
                            <a:srgbClr val="334155"/>
                          </a:solidFill>
                          <a:latin typeface="Inter"/>
                        </a:rPr>
                        <a:t>0.757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2925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334155"/>
                          </a:solidFill>
                          <a:latin typeface="Inter"/>
                        </a:rPr>
                        <a:t>Test Verification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Inter"/>
                        </a:rPr>
                        <a:t>Held-out 20% unseen test dataset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Inter"/>
                        </a:rPr>
                        <a:t>Confirmed generalizability with ROC AUC of </a:t>
                      </a:r>
                      <a:r>
                        <a:rPr sz="1200" b="1" i="0" u="none">
                          <a:solidFill>
                            <a:srgbClr val="334155"/>
                          </a:solidFill>
                          <a:latin typeface="Inter"/>
                        </a:rPr>
                        <a:t>0.765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76262" y="3518445"/>
            <a:ext cx="254555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121818" y="3518445"/>
            <a:ext cx="420394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25766" y="3518445"/>
            <a:ext cx="42899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76262" y="4061370"/>
            <a:ext cx="254555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121818" y="4061370"/>
            <a:ext cx="420394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25766" y="4061370"/>
            <a:ext cx="42899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76262" y="4604295"/>
            <a:ext cx="254555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121818" y="4604295"/>
            <a:ext cx="420394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25766" y="4604295"/>
            <a:ext cx="42899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1500" y="476250"/>
            <a:ext cx="11601450" cy="417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0B2046"/>
                </a:solidFill>
                <a:latin typeface="Poppins"/>
              </a:rPr>
              <a:t>Model Strategy &amp; Validation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960090"/>
            <a:ext cx="11049000" cy="28575"/>
          </a:xfrm>
          <a:prstGeom prst="rect">
            <a:avLst/>
          </a:prstGeom>
          <a:solidFill>
            <a:srgbClr val="D719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26790"/>
            <a:ext cx="11049000" cy="51549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1975395"/>
            <a:ext cx="11049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64748B"/>
                </a:solidFill>
                <a:latin typeface="Inter"/>
              </a:rPr>
              <a:t>Relative feature importance calculated from the trained Random Forest ensemble model: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476250"/>
            <a:ext cx="11601450" cy="417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0B2046"/>
                </a:solidFill>
                <a:latin typeface="Poppins"/>
              </a:rPr>
              <a:t>Key Drivers of Customer Booking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960090"/>
            <a:ext cx="11049000" cy="28575"/>
          </a:xfrm>
          <a:prstGeom prst="rect">
            <a:avLst/>
          </a:prstGeom>
          <a:solidFill>
            <a:srgbClr val="D719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994445"/>
            <a:ext cx="5334000" cy="3619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2380208"/>
            <a:ext cx="560070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0B2046"/>
                </a:solidFill>
                <a:latin typeface="Poppins"/>
              </a:rPr>
              <a:t>Strategic Takeaways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1994445"/>
            <a:ext cx="533400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4875" y="2656433"/>
            <a:ext cx="5000625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Inter"/>
              </a:rPr>
              <a:t>Geography Trumps Add-ons:</a:t>
            </a:r>
            <a:r>
              <a:rPr sz="1350" b="0" i="0" u="none">
                <a:solidFill>
                  <a:srgbClr val="334155"/>
                </a:solidFill>
                <a:latin typeface="Inter"/>
              </a:rPr>
              <a:t> Where a customer initiates a search from (40.6%) outweighs checkout customization options like baggage or meals (3.3%).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75" y="3599408"/>
            <a:ext cx="5000625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Inter"/>
              </a:rPr>
              <a:t>Trip Intent Signals:</a:t>
            </a:r>
            <a:r>
              <a:rPr sz="1350" b="0" i="0" u="none">
                <a:solidFill>
                  <a:srgbClr val="334155"/>
                </a:solidFill>
                <a:latin typeface="Inter"/>
              </a:rPr>
              <a:t> Length of stay (11.2%) combined with lead time (7.4%) reflect whether the user is a committed business traveler or an exploratory leisure browser.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4875" y="4542383"/>
            <a:ext cx="500062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Inter"/>
              </a:rPr>
              <a:t>Actionable Focus:</a:t>
            </a:r>
            <a:r>
              <a:rPr sz="1350" b="0" i="0" u="none">
                <a:solidFill>
                  <a:srgbClr val="334155"/>
                </a:solidFill>
                <a:latin typeface="Inter"/>
              </a:rPr>
              <a:t> Resources should focus on front-end funnel customization rather than late checkout upselling.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680245"/>
            <a:ext cx="190500" cy="20002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623220"/>
            <a:ext cx="190500" cy="2000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566195"/>
            <a:ext cx="190500" cy="2000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500" y="476250"/>
            <a:ext cx="11601450" cy="417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0B2046"/>
                </a:solidFill>
                <a:latin typeface="Poppins"/>
              </a:rPr>
              <a:t>Origin &amp; Demand Signal Takeaways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960090"/>
            <a:ext cx="11049000" cy="28575"/>
          </a:xfrm>
          <a:prstGeom prst="rect">
            <a:avLst/>
          </a:prstGeom>
          <a:solidFill>
            <a:srgbClr val="D719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313682"/>
            <a:ext cx="3492549" cy="298102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799" y="2313682"/>
            <a:ext cx="3492549" cy="298102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2313682"/>
            <a:ext cx="3492549" cy="2981027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775" y="2637532"/>
            <a:ext cx="523875" cy="5238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6775" y="3351907"/>
            <a:ext cx="3047099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B2046"/>
                </a:solidFill>
                <a:latin typeface="Poppins"/>
              </a:rPr>
              <a:t>Localize Market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6775" y="3780532"/>
            <a:ext cx="2901999" cy="97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Tailor the booking interface by origin country—offering preferred local currencies, popular payment channels, and region-specific support upfront.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5074" y="2637532"/>
            <a:ext cx="523875" cy="5238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45074" y="3351907"/>
            <a:ext cx="3047099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B2046"/>
                </a:solidFill>
                <a:latin typeface="Poppins"/>
              </a:rPr>
              <a:t>Real-Time Session Nudges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074" y="3780532"/>
            <a:ext cx="2901999" cy="12189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Deploy real-time predictive scoring. Flag high-risk, low-probability sessions on high-demand routes for immediate retention prompts or save-and-return emails.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3374" y="2637532"/>
            <a:ext cx="523875" cy="52387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23374" y="3351907"/>
            <a:ext cx="3047099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B2046"/>
                </a:solidFill>
                <a:latin typeface="Poppins"/>
              </a:rPr>
              <a:t>Streamlined Checkout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3374" y="3780532"/>
            <a:ext cx="2901999" cy="97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Reduce conversion friction for high-intent origins by auto-populating frequent travel fields and offering simplified, one-click checkout flows.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412" y="2785169"/>
            <a:ext cx="228600" cy="2286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06999" y="2785169"/>
            <a:ext cx="200025" cy="2286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56724" y="2785169"/>
            <a:ext cx="257175" cy="228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" y="476250"/>
            <a:ext cx="11601450" cy="417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0B2046"/>
                </a:solidFill>
                <a:latin typeface="Poppins"/>
              </a:rPr>
              <a:t>Strategic Recommendations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960090"/>
            <a:ext cx="11049000" cy="28575"/>
          </a:xfrm>
          <a:prstGeom prst="rect">
            <a:avLst/>
          </a:prstGeom>
          <a:solidFill>
            <a:srgbClr val="D719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3455" y="3063626"/>
            <a:ext cx="666750" cy="6667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135" y="3063626"/>
            <a:ext cx="666750" cy="6667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8816" y="3063626"/>
            <a:ext cx="666750" cy="6667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71496" y="3063626"/>
            <a:ext cx="666750" cy="6667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2790" y="4187576"/>
            <a:ext cx="9944100" cy="381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0733" y="3920876"/>
            <a:ext cx="2552193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B2046"/>
                </a:solidFill>
                <a:latin typeface="Poppins"/>
              </a:rPr>
              <a:t>Model Deployment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4282826"/>
            <a:ext cx="243066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87"/>
              </a:lnSpc>
            </a:pPr>
            <a:r>
              <a:rPr sz="1125" b="0" i="0" u="none">
                <a:solidFill>
                  <a:srgbClr val="64748B"/>
                </a:solidFill>
                <a:latin typeface="Inter"/>
              </a:rPr>
              <a:t>Integrate Random Forest inference API into the web booking engine backend.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413" y="3920876"/>
            <a:ext cx="2552193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B2046"/>
                </a:solidFill>
                <a:latin typeface="Poppins"/>
              </a:rPr>
              <a:t>Market Adaptation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4180" y="4282826"/>
            <a:ext cx="243066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87"/>
              </a:lnSpc>
            </a:pPr>
            <a:r>
              <a:rPr sz="1125" b="0" i="0" u="none">
                <a:solidFill>
                  <a:srgbClr val="64748B"/>
                </a:solidFill>
                <a:latin typeface="Inter"/>
              </a:rPr>
              <a:t>Launch localized payment and currency options for top 10 origin markets.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6094" y="3920876"/>
            <a:ext cx="2552193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B2046"/>
                </a:solidFill>
                <a:latin typeface="Poppins"/>
              </a:rPr>
              <a:t>Nudge Automation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6860" y="4282826"/>
            <a:ext cx="243066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87"/>
              </a:lnSpc>
            </a:pPr>
            <a:r>
              <a:rPr sz="1125" b="0" i="0" u="none">
                <a:solidFill>
                  <a:srgbClr val="64748B"/>
                </a:solidFill>
                <a:latin typeface="Inter"/>
              </a:rPr>
              <a:t>Implement triggered abandonment emails &amp; live session retention popups.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8774" y="3920876"/>
            <a:ext cx="2552193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B2046"/>
                </a:solidFill>
                <a:latin typeface="Poppins"/>
              </a:rPr>
              <a:t>A/B Evaluation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541" y="4282826"/>
            <a:ext cx="243066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87"/>
              </a:lnSpc>
            </a:pPr>
            <a:r>
              <a:rPr sz="1125" b="0" i="0" u="none">
                <a:solidFill>
                  <a:srgbClr val="64748B"/>
                </a:solidFill>
                <a:latin typeface="Inter"/>
              </a:rPr>
              <a:t>Measure conversion uplift across target routes and refine scoring algorithms.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476250"/>
            <a:ext cx="11601450" cy="417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0B2046"/>
                </a:solidFill>
                <a:latin typeface="Poppins"/>
              </a:rPr>
              <a:t>Implementation Roadmap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960090"/>
            <a:ext cx="11049000" cy="28575"/>
          </a:xfrm>
          <a:prstGeom prst="rect">
            <a:avLst/>
          </a:prstGeom>
          <a:solidFill>
            <a:srgbClr val="D719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558</Words>
  <Application>Microsoft Office PowerPoint</Application>
  <PresentationFormat>Widescreen</PresentationFormat>
  <Paragraphs>67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Inter</vt:lpstr>
      <vt:lpstr>Inter SemiBold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Arnob Saha</cp:lastModifiedBy>
  <cp:revision>2</cp:revision>
  <dcterms:created xsi:type="dcterms:W3CDTF">2013-01-27T09:14:16Z</dcterms:created>
  <dcterms:modified xsi:type="dcterms:W3CDTF">2026-09-17T05:25:52Z</dcterms:modified>
  <cp:category/>
</cp:coreProperties>
</file>