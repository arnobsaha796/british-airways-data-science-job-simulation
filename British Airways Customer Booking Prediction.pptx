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17.png"/><Relationship Id="rId7" Type="http://schemas.openxmlformats.org/officeDocument/2006/relationships/image" Target="../media/image30.png"/><Relationship Id="rId8" Type="http://schemas.openxmlformats.org/officeDocument/2006/relationships/image" Target="../media/image19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90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431" y="1724025"/>
            <a:ext cx="3767137" cy="371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95437" y="2333625"/>
            <a:ext cx="900112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350" i="0" u="none">
                <a:solidFill>
                  <a:srgbClr val="FFFFFF"/>
                </a:solidFill>
                <a:latin typeface="Poppins"/>
              </a:rPr>
              <a:t>Predicting Customer Bookings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3495675"/>
            <a:ext cx="8096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Machine Learning Model &amp; Strategic Recommendations to Identify High-Intent Customers and Prevent Booking Abandonment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914650"/>
            <a:ext cx="12192000" cy="76200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36540"/>
            <a:ext cx="11049000" cy="334520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26790"/>
            <a:ext cx="2583656" cy="1476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3281" y="1226790"/>
            <a:ext cx="2583656" cy="1476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2" y="1226790"/>
            <a:ext cx="2583656" cy="1476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6843" y="1226790"/>
            <a:ext cx="2583656" cy="14763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4875" y="3331815"/>
            <a:ext cx="1094136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B2046"/>
                </a:solidFill>
                <a:latin typeface="Poppins"/>
              </a:rPr>
              <a:t>Key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760440"/>
            <a:ext cx="104203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Customer booking origin and route demand popularity serve as the primary indicators of booking completion. Surprisingly, checkout add-ons (extra baggage, seat selection, and in-flight meals) hold significantly lower predictive power regarding overall conversion.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1550640"/>
            <a:ext cx="2183606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0B2046"/>
                </a:solidFill>
                <a:latin typeface="Poppins"/>
              </a:rPr>
              <a:t>50,000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2226915"/>
            <a:ext cx="2183606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 SemiBold"/>
              </a:rPr>
              <a:t>BOOKINGS ANALYSED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306" y="1550640"/>
            <a:ext cx="2183606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D71921"/>
                </a:solidFill>
                <a:latin typeface="Poppins"/>
              </a:rPr>
              <a:t>15.0%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306" y="2226915"/>
            <a:ext cx="2183606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 SemiBold"/>
              </a:rPr>
              <a:t>COMPLETED BOOKING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087" y="1550640"/>
            <a:ext cx="2183606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0B2046"/>
                </a:solidFill>
                <a:latin typeface="Poppins"/>
              </a:rPr>
              <a:t>0.757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087" y="2226915"/>
            <a:ext cx="2183606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 SemiBold"/>
              </a:rPr>
              <a:t>5-FOLD CV ROC 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6868" y="1550640"/>
            <a:ext cx="2183606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D71921"/>
                </a:solidFill>
                <a:latin typeface="Poppins"/>
              </a:rPr>
              <a:t>0.765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6868" y="2226915"/>
            <a:ext cx="2183606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 SemiBold"/>
              </a:rPr>
              <a:t>TEST-SET ROC AUC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046"/>
                </a:solidFill>
                <a:latin typeface="Poppins"/>
              </a:rPr>
              <a:t>Executive Summary &amp; Key Metrics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77541"/>
            <a:ext cx="5334000" cy="26533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380208"/>
            <a:ext cx="56007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B2046"/>
                </a:solidFill>
                <a:latin typeface="Poppins"/>
              </a:rPr>
              <a:t>Challenge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1775" y="2772816"/>
            <a:ext cx="4980622" cy="314325"/>
          </a:xfrm>
          <a:prstGeom prst="rect">
            <a:avLst/>
          </a:prstGeom>
          <a:noFill/>
        </p:spPr>
        <p:txBody>
          <a:bodyPr wrap="square" lIns="3619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oppins"/>
              </a:rPr>
              <a:t>85 / 15 Imbalance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3230016"/>
            <a:ext cx="47434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To prevent bias toward the majority class, we implemented class-weighted Random Forests (300 estimators) paired with stratified cross-validation.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4104233"/>
            <a:ext cx="47434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This ensured optimal discrimination sensitivity between completed and abandoned user sessions without synthetic over-sampling artifacts.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2656433"/>
            <a:ext cx="50006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High Severe Class Imbalance: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Only 15.0% of user sessions culminate in a completed booking, leaving 85.0% uncompleted.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599408"/>
            <a:ext cx="50006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Standard Model Fallback: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Off-the-shelf algorithms tend to predict all sessions as non-bookings without tailored loss weighting.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4542383"/>
            <a:ext cx="5000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Strategic Goal: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Early detection of high-potential abandoners to enable personalized nudges and conversion recovery.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2820441"/>
            <a:ext cx="26670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8024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23220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566195"/>
            <a:ext cx="19050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046"/>
                </a:solidFill>
                <a:latin typeface="Poppins"/>
              </a:rPr>
              <a:t>Business Problem &amp; Class Imbalance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70807"/>
            <a:ext cx="3492549" cy="326677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170807"/>
            <a:ext cx="3492549" cy="326677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170807"/>
            <a:ext cx="3492549" cy="326677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466082"/>
            <a:ext cx="523875" cy="523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180457"/>
            <a:ext cx="3047099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B2046"/>
                </a:solidFill>
                <a:latin typeface="Poppins"/>
              </a:rPr>
              <a:t>Demand &amp; Route Popularity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23407"/>
            <a:ext cx="290199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Engineered aggregate demand features capturing historical route traffic and origin market popularity scores to represent underlying booking intent.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466082"/>
            <a:ext cx="523875" cy="523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180457"/>
            <a:ext cx="3047099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B2046"/>
                </a:solidFill>
                <a:latin typeface="Poppins"/>
              </a:rPr>
              <a:t>Log-Scaled Time Dynamics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923407"/>
            <a:ext cx="290199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Applied logarithmic transformations to Purchase Lead Time and Length of Stay to dampen extreme skews and isolate non-linear response curves.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466082"/>
            <a:ext cx="523875" cy="523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180457"/>
            <a:ext cx="3047099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B2046"/>
                </a:solidFill>
                <a:latin typeface="Poppins"/>
              </a:rPr>
              <a:t>Service &amp; Behavioral Indicators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923407"/>
            <a:ext cx="2901999" cy="1218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Constructed aggregated counts for requested extras (baggage, seats, meals) along with binary indicator flags for red-eye and weekend flight schedules.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412" y="2613719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2712" y="2613719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1011" y="2613719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046"/>
                </a:solidFill>
                <a:latin typeface="Poppins"/>
              </a:rPr>
              <a:t>Feature Engineering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446883"/>
            <a:ext cx="11049000" cy="27146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446883"/>
          <a:ext cx="11039474" cy="2714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45556"/>
                <a:gridCol w="4203948"/>
                <a:gridCol w="4289970"/>
              </a:tblGrid>
              <a:tr h="54292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Inter SemiBold"/>
                        </a:rPr>
                        <a:t>Model Component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0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Inter SemiBold"/>
                        </a:rPr>
                        <a:t>Technical Configuration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0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Inter SemiBold"/>
                        </a:rPr>
                        <a:t>Performance Impact / Outcome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04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Algorithm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Random Forest Classifier (scikit-learn)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Captures non-linear feature interactions efficiently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Ensemble Hyperparameters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300 Decision Trees with balanced class weighting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Protects model against 85/15 class imbalance bias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Cross-Validation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5-Fold Stratified Cross-Validation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Achieved consistent training ROC AUC of </a:t>
                      </a:r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0.757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Test Verification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Held-out 20% unseen test dataset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Confirmed generalizability with ROC AUC of </a:t>
                      </a:r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0.765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518445"/>
            <a:ext cx="25455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21818" y="3518445"/>
            <a:ext cx="42039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25766" y="3518445"/>
            <a:ext cx="42899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262" y="4061370"/>
            <a:ext cx="25455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21818" y="4061370"/>
            <a:ext cx="42039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25766" y="4061370"/>
            <a:ext cx="42899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262" y="4604295"/>
            <a:ext cx="25455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21818" y="4604295"/>
            <a:ext cx="42039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25766" y="4604295"/>
            <a:ext cx="42899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046"/>
                </a:solidFill>
                <a:latin typeface="Poppins"/>
              </a:rPr>
              <a:t>Model Strategy &amp;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26790"/>
            <a:ext cx="11049000" cy="51549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75395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Relative feature importance calculated from the trained Random Forest ensemble model: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046"/>
                </a:solidFill>
                <a:latin typeface="Poppins"/>
              </a:rPr>
              <a:t>Key Drivers of Customer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9444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380208"/>
            <a:ext cx="56007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B2046"/>
                </a:solidFill>
                <a:latin typeface="Poppins"/>
              </a:rPr>
              <a:t>Strategic Takeaways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94445"/>
            <a:ext cx="53340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4875" y="2656433"/>
            <a:ext cx="50006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Geography Trumps Add-ons: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Where a customer initiates a search from (40.6%) outweighs checkout customization options like baggage or meals (3.3%).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599408"/>
            <a:ext cx="50006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Trip Intent Signals: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Length of stay (11.2%) combined with lead time (7.4%) reflect whether the user is a committed business traveler or an exploratory leisure browser.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542383"/>
            <a:ext cx="5000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Actionable Focus: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Resources should focus on front-end funnel customization rather than late checkout upselling.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80245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2322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66195"/>
            <a:ext cx="19050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046"/>
                </a:solidFill>
                <a:latin typeface="Poppins"/>
              </a:rPr>
              <a:t>Origin &amp; Demand Signal Takeaways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3682"/>
            <a:ext cx="3492549" cy="29810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313682"/>
            <a:ext cx="3492549" cy="298102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13682"/>
            <a:ext cx="3492549" cy="298102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37532"/>
            <a:ext cx="523875" cy="523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351907"/>
            <a:ext cx="304709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B2046"/>
                </a:solidFill>
                <a:latin typeface="Poppins"/>
              </a:rPr>
              <a:t>Localize Market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780532"/>
            <a:ext cx="290199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Tailor the booking interface by origin country—offering preferred local currencies, popular payment channels, and region-specific support upfront.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637532"/>
            <a:ext cx="523875" cy="523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351907"/>
            <a:ext cx="304709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B2046"/>
                </a:solidFill>
                <a:latin typeface="Poppins"/>
              </a:rPr>
              <a:t>Real-Time Session Nudges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780532"/>
            <a:ext cx="2901999" cy="1218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Deploy real-time predictive scoring. Flag high-risk, low-probability sessions on high-demand routes for immediate retention prompts or save-and-return emails.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637532"/>
            <a:ext cx="523875" cy="523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351907"/>
            <a:ext cx="304709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B2046"/>
                </a:solidFill>
                <a:latin typeface="Poppins"/>
              </a:rPr>
              <a:t>Streamlined Checkout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780532"/>
            <a:ext cx="290199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Reduce conversion friction for high-intent origins by auto-populating frequent travel fields and offering simplified, one-click checkout flows.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412" y="2785169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6999" y="2785169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6724" y="2785169"/>
            <a:ext cx="25717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046"/>
                </a:solidFill>
                <a:latin typeface="Poppins"/>
              </a:rPr>
              <a:t>Strategic Recommendations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455" y="3063626"/>
            <a:ext cx="666750" cy="666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135" y="3063626"/>
            <a:ext cx="666750" cy="666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816" y="3063626"/>
            <a:ext cx="666750" cy="666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1496" y="3063626"/>
            <a:ext cx="666750" cy="6667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23950" y="3975645"/>
            <a:ext cx="99441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0733" y="3920876"/>
            <a:ext cx="255219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B2046"/>
                </a:solidFill>
                <a:latin typeface="Poppins"/>
              </a:rPr>
              <a:t>Model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282826"/>
            <a:ext cx="243066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Integrate Random Forest inference API into the web booking engine backend.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413" y="3920876"/>
            <a:ext cx="255219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B2046"/>
                </a:solidFill>
                <a:latin typeface="Poppins"/>
              </a:rPr>
              <a:t>Market Adaptation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4180" y="4282826"/>
            <a:ext cx="243066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Launch localized payment and currency options for top 10 origin markets.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6094" y="3920876"/>
            <a:ext cx="255219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B2046"/>
                </a:solidFill>
                <a:latin typeface="Poppins"/>
              </a:rPr>
              <a:t>Nudge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6860" y="4282826"/>
            <a:ext cx="243066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Implement triggered abandonment emails &amp; live session retention popups.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8774" y="3920876"/>
            <a:ext cx="255219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B2046"/>
                </a:solidFill>
                <a:latin typeface="Poppins"/>
              </a:rPr>
              <a:t>A/B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541" y="4282826"/>
            <a:ext cx="243066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Measure conversion uplift across target routes and refine scoring algorithms.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046"/>
                </a:solidFill>
                <a:latin typeface="Poppins"/>
              </a:rPr>
              <a:t>Implementation Roadmap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787" y="4043362"/>
            <a:ext cx="4162425" cy="419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30516" y="2395537"/>
            <a:ext cx="7730966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B2046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4587" y="3443287"/>
            <a:ext cx="73628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64748B"/>
                </a:solidFill>
                <a:latin typeface="Inter"/>
              </a:rPr>
              <a:t>Predicting Customer Bookings — British Airways Data Science Task 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912" y="4176712"/>
            <a:ext cx="17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66070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3480345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https://images.unsplash.com/photo-1744451620884-630219cbf017?fm=jpg&amp;q=60&amp;w=3000&amp;auto=format&amp;fit=crop&amp;ixlib=rb-4.1.0&amp;ixid=M3wxMjA3fDB8MHxwaG90by1wYWdlfHx8fGVufDB8fHx8fA%3D%3D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3899445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unsplash.com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B2046"/>
                </a:solidFill>
                <a:latin typeface="Poppins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960090"/>
            <a:ext cx="11049000" cy="28575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